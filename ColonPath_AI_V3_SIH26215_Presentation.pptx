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00584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SMART INDIA HACKATHON 2026</a:t>
            </a:r>
          </a:p>
          <a:p>
            <a:pPr>
              <a:defRPr sz="2400" b="1">
                <a:solidFill>
                  <a:srgbClr val="1A237E"/>
                </a:solidFill>
              </a:defRPr>
            </a:pPr>
            <a:r>
              <a:t>COLONPATH-AI V3: Multimodal Clinical Decision-Support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286000"/>
            <a:ext cx="5486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300">
                <a:solidFill>
                  <a:srgbClr val="0F172A"/>
                </a:solidFill>
              </a:rPr>
              <a:t>• Problem Statement ID:</a:t>
            </a:r>
            <a:r>
              <a:rPr b="0" sz="1300">
                <a:solidFill>
                  <a:srgbClr val="1A237E"/>
                </a:solidFill>
              </a:rPr>
              <a:t> SIH26215</a:t>
            </a:r>
          </a:p>
          <a:p>
            <a:r>
              <a:rPr b="1" sz="1300">
                <a:solidFill>
                  <a:srgbClr val="0F172A"/>
                </a:solidFill>
              </a:rPr>
              <a:t>• Problem Statement Title:</a:t>
            </a:r>
            <a:r>
              <a:rPr b="0" sz="1300">
                <a:solidFill>
                  <a:srgbClr val="1A237E"/>
                </a:solidFill>
              </a:rPr>
              <a:t> AI-Assisted Histopathology System for Colorectal Cancer</a:t>
            </a:r>
          </a:p>
          <a:p>
            <a:r>
              <a:rPr b="1" sz="1300">
                <a:solidFill>
                  <a:srgbClr val="0F172A"/>
                </a:solidFill>
              </a:rPr>
              <a:t>• Theme:</a:t>
            </a:r>
            <a:r>
              <a:rPr b="0" sz="1300">
                <a:solidFill>
                  <a:srgbClr val="1A237E"/>
                </a:solidFill>
              </a:rPr>
              <a:t> MedTech / BioTech / HealthTech</a:t>
            </a:r>
          </a:p>
          <a:p>
            <a:r>
              <a:rPr b="1" sz="1300">
                <a:solidFill>
                  <a:srgbClr val="0F172A"/>
                </a:solidFill>
              </a:rPr>
              <a:t>• PS Category:</a:t>
            </a:r>
            <a:r>
              <a:rPr b="0" sz="1300">
                <a:solidFill>
                  <a:srgbClr val="1A237E"/>
                </a:solidFill>
              </a:rPr>
              <a:t> Hardware / Software Hybrid</a:t>
            </a:r>
          </a:p>
          <a:p>
            <a:r>
              <a:rPr b="1" sz="1300">
                <a:solidFill>
                  <a:srgbClr val="0F172A"/>
                </a:solidFill>
              </a:rPr>
              <a:t>• Team ID:</a:t>
            </a:r>
            <a:r>
              <a:rPr b="0" sz="1300">
                <a:solidFill>
                  <a:srgbClr val="1A237E"/>
                </a:solidFill>
              </a:rPr>
              <a:t> 23</a:t>
            </a:r>
          </a:p>
          <a:p>
            <a:r>
              <a:rPr b="1" sz="1300">
                <a:solidFill>
                  <a:srgbClr val="0F172A"/>
                </a:solidFill>
              </a:rPr>
              <a:t>• Team Name (Portal):</a:t>
            </a:r>
            <a:r>
              <a:rPr b="0" sz="1300">
                <a:solidFill>
                  <a:srgbClr val="1A237E"/>
                </a:solidFill>
              </a:rPr>
              <a:t> Pathometrics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0" y="2286000"/>
            <a:ext cx="420624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A237E"/>
                </a:solidFill>
              </a:defRPr>
            </a:pPr>
            <a:r>
              <a:t>System Core Architecture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🔬 Optical Microscopy + USB/OTG Phone Capture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🧠 Dual Segmentation: HoVer-Net + U-Net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🌐 Foundation Vision: Phikon-v2 ViT-L/16 (DINOv2)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⚡ Multimodal Late Fusion: 16D Morphology + 1024D Visual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🎯 Temperature-Calibrated 9-Class Tissue Prediction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🛡️ Shannon Entropy Uncertainty &amp; OOD Abstention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📄 On-Device Native A4 Clinical Decision-Support PDF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SMART INDIA HACKATHON 2026</a:t>
            </a:r>
          </a:p>
          <a:p>
            <a:pPr>
              <a:defRPr sz="2200" b="1">
                <a:solidFill>
                  <a:srgbClr val="1A237E"/>
                </a:solidFill>
              </a:defRPr>
            </a:pPr>
            <a:r>
              <a:t>IDEA OVERVIEW: Problem &amp; Multimodal Solution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961120" y="365760"/>
            <a:ext cx="2468880" cy="640080"/>
          </a:xfrm>
          <a:prstGeom prst="roundRect">
            <a:avLst/>
          </a:prstGeom>
          <a:solidFill>
            <a:srgbClr val="1A237E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PATHOMETRICS | Team 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@SIH Idea Submission - Problem Statement ID: SIH26215                                                                      Slide 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120640" cy="493776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B91C1C"/>
                </a:solidFill>
              </a:defRPr>
            </a:pPr>
            <a:r>
              <a:t>🔴 The Clinical Problem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• Complex Tissue Architecture: Colorectal H&amp;E biopsies contain intricate nuclear atypia and glandular destruction requiring meticulous high-magnification scanning.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• Diagnostic Fatigue &amp; Subjectivity: Manual cell counting and qualitative grading (e.g. 'mildly enlarged') lead to inter-observer variability and fatigue.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• Lack of Point-of-Care Quantification: Standard optical light microscopes do not provide direct mathematical measurements or digital reports.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• Expensive Scanner Barrier: Traditional Whole-Slide Scanners cost $80,000–$250,000, creating a barrier for rural/tier-2 clinics.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280160"/>
            <a:ext cx="521208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66534"/>
                </a:solidFill>
              </a:defRPr>
            </a:pPr>
            <a:r>
              <a:t>🟢 Our Multimodal Solution (ColonPath-AI V3)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1. Point-of-Care Image Capture: Mounts smartphone/USB camera to standard microscope eyepiece via low-cost adapter ($15-$50).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2. Optical Quality QC: Real-time Laplacian blur variance, contrast, and brightness validation before inference.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3. Dual-Branch Morphometry: HoVer-Net extracts 4-class nuclear phenotyping; U-Net segments gland area, perimeter, and circularity.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4. Multimodal Late Fusion: Fuses a 16-D morphology vector with a 1024-D Phikon-v2 foundation embedding into MultimodalFusionNet.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5. Calibrated 9-Class Output: NCT-CRC-HE-100K taxonomy with temperature scaling (T=1.25) and Shannon entropy uncertainty.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6. 2x2 Priority Triage &amp; PDF: Ranks quadrants (R_01..R_04) and generates native A4 clinical PDF reports on-device in 35 seconds.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7. Clinician-in-the-Loop: Provides objective decision support; pathologist remains the definitive diagnostic authority.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SMART INDIA HACKATHON 2026</a:t>
            </a:r>
          </a:p>
          <a:p>
            <a:pPr>
              <a:defRPr sz="2200" b="1">
                <a:solidFill>
                  <a:srgbClr val="1A237E"/>
                </a:solidFill>
              </a:defRPr>
            </a:pPr>
            <a:r>
              <a:t>TECHNICAL APPROACH: End-to-End Pipeline &amp; Tech Stack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961120" y="365760"/>
            <a:ext cx="2468880" cy="640080"/>
          </a:xfrm>
          <a:prstGeom prst="roundRect">
            <a:avLst/>
          </a:prstGeom>
          <a:solidFill>
            <a:srgbClr val="1A237E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PATHOMETRICS | Team 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@SIH Idea Submission - Problem Statement ID: SIH26215                                                                      Slide 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303520" cy="493776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A237E"/>
                </a:solidFill>
              </a:defRPr>
            </a:pPr>
            <a:r>
              <a:t>Pipeline Architecture Flow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1. Image Acquisition &amp; Optical QC</a:t>
            </a:r>
            <a:br/>
            <a:r>
              <a:t>• H&amp;E slide capture via USB/OTG camera -&gt; Laplacian blur variance (&gt;100) + brightness/contrast verification.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2. Parallel Deep Computer Vision</a:t>
            </a:r>
            <a:br/>
            <a:r>
              <a:t>• U-Net (ResNet-34): Gland boundaries, area, circularity, aspect ratio.</a:t>
            </a:r>
            <a:br/>
            <a:r>
              <a:t>• HoVer-Net: Nuclear distance maps -&gt; 4-class phenotyping.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3. 16-D Morphology Vector Extraction</a:t>
            </a:r>
            <a:br/>
            <a:r>
              <a:t>• 8 nuclear metrics + 8 gland metrics standardized into normalized vector m.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4. Foundation Vision &amp; Late Fusion</a:t>
            </a:r>
            <a:br/>
            <a:r>
              <a:t>• Phikon-v2 ViT-L/16 (DINOv2) generates 1024-D embedding v.</a:t>
            </a:r>
            <a:br/>
            <a:r>
              <a:t>• MultimodalFusionNet (1040D -&gt; 128D bottleneck -&gt; 9-class logits).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5. Safety, Consensus &amp; Reporting</a:t>
            </a:r>
            <a:br/>
            <a:r>
              <a:t>• Temperature scaling (T=1.25) + Shannon entropy H(p).</a:t>
            </a:r>
            <a:br/>
            <a:r>
              <a:t>• Multi-source consensus voting + EvidenceValidator gatekeeper.</a:t>
            </a:r>
            <a:br/>
            <a:r>
              <a:t>• 7 streaming visual overlays + Native Android A4 PDF generator.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280160"/>
            <a:ext cx="521208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A237E"/>
                </a:solidFill>
              </a:defRPr>
            </a:pPr>
            <a:r>
              <a:t>Authoritative Technology Stack</a:t>
            </a:r>
          </a:p>
          <a:p>
            <a:r>
              <a:rPr b="1" sz="1000">
                <a:solidFill>
                  <a:srgbClr val="2563EB"/>
                </a:solidFill>
              </a:rPr>
              <a:t>Mobile Client: </a:t>
            </a:r>
            <a:r>
              <a:rPr b="0" sz="1000">
                <a:solidFill>
                  <a:srgbClr val="0F172A"/>
                </a:solidFill>
              </a:rPr>
              <a:t>Android (Kotlin, Jetpack Compose, Material 3)</a:t>
            </a:r>
          </a:p>
          <a:p>
            <a:r>
              <a:rPr b="1" sz="1000">
                <a:solidFill>
                  <a:srgbClr val="2563EB"/>
                </a:solidFill>
              </a:rPr>
              <a:t>Backend Services: </a:t>
            </a:r>
            <a:r>
              <a:rPr b="0" sz="1000">
                <a:solidFill>
                  <a:srgbClr val="0F172A"/>
                </a:solidFill>
              </a:rPr>
              <a:t>Python 3.13, FastAPI, PyTorch 2.5</a:t>
            </a:r>
          </a:p>
          <a:p>
            <a:r>
              <a:rPr b="1" sz="1000">
                <a:solidFill>
                  <a:srgbClr val="2563EB"/>
                </a:solidFill>
              </a:rPr>
              <a:t>Image Processing: </a:t>
            </a:r>
            <a:r>
              <a:rPr b="0" sz="1000">
                <a:solidFill>
                  <a:srgbClr val="0F172A"/>
                </a:solidFill>
              </a:rPr>
              <a:t>OpenCV, NumPy, SciPy (Macenko / Laplacian)</a:t>
            </a:r>
          </a:p>
          <a:p>
            <a:r>
              <a:rPr b="1" sz="1000">
                <a:solidFill>
                  <a:srgbClr val="2563EB"/>
                </a:solidFill>
              </a:rPr>
              <a:t>Gland Segmentation: </a:t>
            </a:r>
            <a:r>
              <a:rPr b="0" sz="1000">
                <a:solidFill>
                  <a:srgbClr val="0F172A"/>
                </a:solidFill>
              </a:rPr>
              <a:t>U-Net (ResNet-34 Backbone, GLaS pretrained)</a:t>
            </a:r>
          </a:p>
          <a:p>
            <a:r>
              <a:rPr b="1" sz="1000">
                <a:solidFill>
                  <a:srgbClr val="2563EB"/>
                </a:solidFill>
              </a:rPr>
              <a:t>Nuclear Analysis: </a:t>
            </a:r>
            <a:r>
              <a:rPr b="0" sz="1000">
                <a:solidFill>
                  <a:srgbClr val="0F172A"/>
                </a:solidFill>
              </a:rPr>
              <a:t>HoVer-Net (CoNSeP / PanNuke PyTorch Checkpoint)</a:t>
            </a:r>
          </a:p>
          <a:p>
            <a:r>
              <a:rPr b="1" sz="1000">
                <a:solidFill>
                  <a:srgbClr val="2563EB"/>
                </a:solidFill>
              </a:rPr>
              <a:t>Foundation Model: </a:t>
            </a:r>
            <a:r>
              <a:rPr b="0" sz="1000">
                <a:solidFill>
                  <a:srgbClr val="0F172A"/>
                </a:solidFill>
              </a:rPr>
              <a:t>Phikon-v2 (ViT-L/16 via DINOv2 1024D Embeddings)</a:t>
            </a:r>
          </a:p>
          <a:p>
            <a:r>
              <a:rPr b="1" sz="1000">
                <a:solidFill>
                  <a:srgbClr val="2563EB"/>
                </a:solidFill>
              </a:rPr>
              <a:t>Multimodal Fusion: </a:t>
            </a:r>
            <a:r>
              <a:rPr b="0" sz="1000">
                <a:solidFill>
                  <a:srgbClr val="0F172A"/>
                </a:solidFill>
              </a:rPr>
              <a:t>ColonPath MultimodalFusionNet (128D Latent)</a:t>
            </a:r>
          </a:p>
          <a:p>
            <a:r>
              <a:rPr b="1" sz="1000">
                <a:solidFill>
                  <a:srgbClr val="2563EB"/>
                </a:solidFill>
              </a:rPr>
              <a:t>Calibration &amp; Safety: </a:t>
            </a:r>
            <a:r>
              <a:rPr b="0" sz="1000">
                <a:solidFill>
                  <a:srgbClr val="0F172A"/>
                </a:solidFill>
              </a:rPr>
              <a:t>Temperature Scaling (T=1.25), Shannon Entropy H(p)</a:t>
            </a:r>
          </a:p>
          <a:p>
            <a:r>
              <a:rPr b="1" sz="1000">
                <a:solidFill>
                  <a:srgbClr val="2563EB"/>
                </a:solidFill>
              </a:rPr>
              <a:t>Validation &amp; Triage: </a:t>
            </a:r>
            <a:r>
              <a:rPr b="0" sz="1000">
                <a:solidFill>
                  <a:srgbClr val="0F172A"/>
                </a:solidFill>
              </a:rPr>
              <a:t>ColonPath EvidenceValidator + PriorityRegionEngine</a:t>
            </a:r>
          </a:p>
          <a:p>
            <a:r>
              <a:rPr b="1" sz="1000">
                <a:solidFill>
                  <a:srgbClr val="2563EB"/>
                </a:solidFill>
              </a:rPr>
              <a:t>Data Persistence: </a:t>
            </a:r>
            <a:r>
              <a:rPr b="0" sz="1000">
                <a:solidFill>
                  <a:srgbClr val="0F172A"/>
                </a:solidFill>
              </a:rPr>
              <a:t>SQLite Database + case_result.json (SHA-256 Hashes)</a:t>
            </a:r>
          </a:p>
          <a:p>
            <a:r>
              <a:rPr b="1" sz="1000">
                <a:solidFill>
                  <a:srgbClr val="2563EB"/>
                </a:solidFill>
              </a:rPr>
              <a:t>Report Generation: </a:t>
            </a:r>
            <a:r>
              <a:rPr b="0" sz="1000">
                <a:solidFill>
                  <a:srgbClr val="0F172A"/>
                </a:solidFill>
              </a:rPr>
              <a:t>Android Native PdfDocument Canvas Engine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SMART INDIA HACKATHON 2026</a:t>
            </a:r>
          </a:p>
          <a:p>
            <a:pPr>
              <a:defRPr sz="2200" b="1">
                <a:solidFill>
                  <a:srgbClr val="1A237E"/>
                </a:solidFill>
              </a:defRPr>
            </a:pPr>
            <a:r>
              <a:t>FEASIBILITY, VIABILITY &amp; SYSTEM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961120" y="365760"/>
            <a:ext cx="2468880" cy="640080"/>
          </a:xfrm>
          <a:prstGeom prst="roundRect">
            <a:avLst/>
          </a:prstGeom>
          <a:solidFill>
            <a:srgbClr val="1A237E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PATHOMETRICS | Team 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@SIH Idea Submission - Problem Statement ID: SIH26215                                                                      Slide 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120640" cy="237744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A237E"/>
                </a:solidFill>
              </a:defRPr>
            </a:pPr>
            <a:r>
              <a:t>1. Low-Cost Hardware Feasibility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• Uses existing optical light microscopes in any laboratory.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• Connects via standard USB/OTG camera adapter ($15–$50).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• Android smartphone provides portable touch interface.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• Total CapEx &lt; $1,500 per lab (vs $100k+ for WSI scanners).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280160"/>
            <a:ext cx="521208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A237E"/>
                </a:solidFill>
              </a:defRPr>
            </a:pPr>
            <a:r>
              <a:t>2. AI &amp; Software Feasibility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• Optimized PyTorch CPU execution (~33s end-to-end).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• GPU acceleration drops inference to &lt; 3 seconds.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• Fully local hospital intranet operation (Zero mandatory cloud).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• HIPAA &amp; GDPR compliant with SHA-256 audit hashing.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840480"/>
            <a:ext cx="512064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A237E"/>
                </a:solidFill>
              </a:defRPr>
            </a:pPr>
            <a:r>
              <a:t>3. Modular &amp; Edge Architecture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• Decoupled architecture: Headless REST server + Mobile client.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• One edge server supports multiple microscope rooms via Wi-Fi.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• SQLite case persistence prevents data loss on network drops.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• Recomposition-safe Android coroutine lifecycle handling.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840480"/>
            <a:ext cx="5212080" cy="237744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A237E"/>
                </a:solidFill>
              </a:defRPr>
            </a:pPr>
            <a:r>
              <a:t>4. Reliability &amp; Medical Risk Control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• Optical QC rejection halts analysis on blurry or folded tissue.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• Shannon entropy (H(p) &gt;= 0.50) triggers mandatory review flags.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• Deterministic EvidenceValidator blocks AI text hallucinations.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• Strictly Clinical Decision Support (Pathologist holds final sign-out).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SMART INDIA HACKATHON 2026</a:t>
            </a:r>
          </a:p>
          <a:p>
            <a:pPr>
              <a:defRPr sz="2200" b="1">
                <a:solidFill>
                  <a:srgbClr val="1A237E"/>
                </a:solidFill>
              </a:defRPr>
            </a:pPr>
            <a:r>
              <a:t>IMPACT, NOVELTY &amp; STAKEHOLDER BENEFITS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961120" y="365760"/>
            <a:ext cx="2468880" cy="640080"/>
          </a:xfrm>
          <a:prstGeom prst="roundRect">
            <a:avLst/>
          </a:prstGeom>
          <a:solidFill>
            <a:srgbClr val="1A237E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PATHOMETRICS | Team 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@SIH Idea Submission - Problem Statement ID: SIH26215                                                                      Slide 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3383280" cy="3657600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A237E"/>
                </a:solidFill>
              </a:defRPr>
            </a:pPr>
            <a:r>
              <a:t>👨‍⚕️ For Pathologists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Cuts pre-screening time by calculating exact cell &amp; gland counts.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2x2 Spatial Triage queue (R_01..R_04) highlights most atypical quadrant first.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Consensus engine flags internal contradictions across tissue layers.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Generates audit-ready A4 PDF reports on device with one tap.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280160"/>
            <a:ext cx="3383280" cy="3657600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A237E"/>
                </a:solidFill>
              </a:defRPr>
            </a:pPr>
            <a:r>
              <a:t>🏥 For Hospitals &amp; Labs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&gt;90% reduction in digital pathology deployment expenditure.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Integrates with existing microscopes and hospital LIS/HIS via REST.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Standardizes objective morphometry grading across all staff.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Accelerates biopsy case turnaround from days to hours.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280160"/>
            <a:ext cx="3383280" cy="3657600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A237E"/>
                </a:solidFill>
              </a:defRPr>
            </a:pPr>
            <a:r>
              <a:t>🌍 For Rural &amp; Tier-2/3 Centers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Brings foundation-grade AI to resource-constrained clinics.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Works with low-cost $300 microscopes and smartphone attachments.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Instant telepathology PDF export for remote tertiary second opinions.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Bridges the critical specialist deficit in underserved regions.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698480" cy="1097280"/>
          </a:xfrm>
          <a:prstGeom prst="roundRect">
            <a:avLst/>
          </a:prstGeom>
          <a:solidFill>
            <a:srgbClr val="1A237E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🎯 Core Project Novelty (Why ColonPath-AI is Unique)</a:t>
            </a:r>
          </a:p>
          <a:p>
            <a:pPr>
              <a:defRPr sz="1000">
                <a:solidFill>
                  <a:srgbClr val="E2E8F0"/>
                </a:solidFill>
              </a:defRPr>
            </a:pPr>
            <a:r>
              <a:t>Unlike black-box vision models or heavy manual desktop tools, ColonPath-AI fuses 1024-D self-supervised visual representations (Phikon-v2) with an explicit 16-D biological morphology descriptor vector into MultimodalFusionNet, verified by deterministic anti-hallucination claim checks and delivered natively on mobile.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SMART INDIA HACKATHON 2026</a:t>
            </a:r>
          </a:p>
          <a:p>
            <a:pPr>
              <a:defRPr sz="2200" b="1">
                <a:solidFill>
                  <a:srgbClr val="1A237E"/>
                </a:solidFill>
              </a:defRPr>
            </a:pPr>
            <a:r>
              <a:t>RESEARCH CITATIONS &amp; SCIENTIFIC PROVENANCE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961120" y="365760"/>
            <a:ext cx="2468880" cy="640080"/>
          </a:xfrm>
          <a:prstGeom prst="roundRect">
            <a:avLst/>
          </a:prstGeom>
          <a:solidFill>
            <a:srgbClr val="1A237E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PATHOMETRICS | Team 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@SIH Idea Submission - Problem Statement ID: SIH26215                                                                      Slide 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303520" cy="493776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A237E"/>
                </a:solidFill>
              </a:defRPr>
            </a:pPr>
            <a:r>
              <a:t>Established Research &amp; Datasets (E1 &amp; E2)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[1] U-Net: Biomedical Image Segmentation</a:t>
            </a:r>
            <a:br/>
            <a:r>
              <a:t>Ronneberger, Fischer &amp; Brox, MICCAI 2015. (arXiv:1505.04597)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[2] HoVer-Net: Nuclear Segmentation &amp; Classification</a:t>
            </a:r>
            <a:br/>
            <a:r>
              <a:t>Graham et al., Medical Image Analysis 2019. (DOI:10.1016/j.media.2019.101563)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[3] Phikon-v2: Pathology Foundation Vision Model</a:t>
            </a:r>
            <a:br/>
            <a:r>
              <a:t>Filiot et al., arXiv:2409.09173 (2024) [DINOv2 ViT-L/16 via Oquab et al., 2023]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[4] Confidence Calibration in Deep Networks</a:t>
            </a:r>
            <a:br/>
            <a:r>
              <a:t>Guo, Pleiss, Sun, Weinberger, ICML 2017.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[5] NCT-CRC-HE-100K &amp; CRC-VAL-HE-7K Benchmarks</a:t>
            </a:r>
            <a:br/>
            <a:r>
              <a:t>Kather et al., 107,180 H&amp;E patches across 9 classes. (Zenodo:10.5281/zenodo.1214456)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[6] CoNSeP Dataset (Colorectal Nuclear Phenotypes)</a:t>
            </a:r>
            <a:br/>
            <a:r>
              <a:t>Graham et al., 24,319 annotated nuclei, Warwick University 2019.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280160"/>
            <a:ext cx="521208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A237E"/>
                </a:solidFill>
              </a:defRPr>
            </a:pPr>
            <a:r>
              <a:t>ColonPath-AI Original Contributions (E3)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✅ 16-D Quantitative Morphology Descriptor Vector</a:t>
            </a:r>
            <a:br/>
            <a:r>
              <a:t>Standardized geometric representation derived from cell/gland contours.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✅ MultimodalFusionNet Architecture</a:t>
            </a:r>
            <a:br/>
            <a:r>
              <a:t>1040D input -&gt; 128D latent bottleneck -&gt; 9-class calibrated logits.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✅ Multi-Source Cross-Evidence Consensus Engine</a:t>
            </a:r>
            <a:br/>
            <a:r>
              <a:t>Independent voting across visual, nuclear, and glandular branches.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✅ Deterministic EvidenceValidator Gatekeeper</a:t>
            </a:r>
            <a:br/>
            <a:r>
              <a:t>Mathematically verifies claims against numerical tensors before display.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✅ 2x2 Spatial Priority Triage Queue (R_01..R_04)</a:t>
            </a:r>
            <a:br/>
            <a:r>
              <a:t>Local quadrant scoring for high-atypia attention prioritization.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✅ Zero-Mock Native Android Client &amp; A4 PDF Generator</a:t>
            </a:r>
            <a:br/>
            <a:r>
              <a:t>Dynamic on-device compilation bound directly to active case tensors.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⚠️ Explicit Boundary: Clinical decision support prototype; not an autonomous diagnostic device.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